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01168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675120" y="2011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 •  REAL-LIFE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65960" y="16459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 Data Plan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phone provider charges customers as follows: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 flat fee for the first 5 GB of data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 for every additional GB beyond 5 GB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5303520" cy="1463040"/>
          </a:xfrm>
          <a:prstGeom prst="rect">
            <a:avLst/>
          </a:prstGeom>
          <a:solidFill>
            <a:srgbClr val="F4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9443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function: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324612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C(x) = 10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C(x) = 10 + 2(x − 5)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886200" y="324612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 0 ≤ x ≤ 5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 x &gt; 5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89320" y="1143000"/>
            <a:ext cx="2743200" cy="3200400"/>
          </a:xfrm>
          <a:prstGeom prst="rect">
            <a:avLst/>
          </a:prstGeom>
          <a:solidFill>
            <a:srgbClr val="2A3A7B"/>
          </a:solidFill>
          <a:ln w="12700">
            <a:solidFill>
              <a:srgbClr val="2A3A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1280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173736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 Cost for 3 GB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 Cost for 5 GB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 Cost for 8 GB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 Cost for 12 GB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Piecewise Functions  •  Problem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01168"/>
            <a:ext cx="1691640" cy="457200"/>
          </a:xfrm>
          <a:prstGeom prst="roundRect">
            <a:avLst>
              <a:gd name="adj" fmla="val 16000"/>
            </a:avLst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240280" y="16459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 Data Plan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 each value of x into the correct piece: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51206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 x = 3  →  3 ≤ 5, use top piece</a:t>
            </a:r>
            <a:endParaRPr lang="en-US" sz="13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C(3) = $10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 x = 5  →  boundary, top piece</a:t>
            </a:r>
            <a:endParaRPr lang="en-US" sz="13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C(5) = $10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 x = 8  →  8 &gt; 5, use bottom piece</a:t>
            </a:r>
            <a:endParaRPr lang="en-US" sz="13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C(8) = 10 + 2(8 − 5) = $16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 x = 12  →  12 &gt; 5, bottom piece</a:t>
            </a:r>
            <a:endParaRPr lang="en-US" sz="13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C(12) = 10 + 2(12 − 5) = $24</a:t>
            </a:r>
            <a:endParaRPr lang="en-US" sz="1300" dirty="0"/>
          </a:p>
        </p:txBody>
      </p:sp>
      <p:pic>
        <p:nvPicPr>
          <p:cNvPr id="8" name="Image 0" descr="/home/claude/piecewise/graph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051560"/>
            <a:ext cx="3474720" cy="2468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577840" y="3703320"/>
            <a:ext cx="3474720" cy="960120"/>
          </a:xfrm>
          <a:prstGeom prst="rect">
            <a:avLst/>
          </a:prstGeom>
          <a:solidFill>
            <a:srgbClr val="F4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15000" y="3767328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 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which interval x lies in before substituting.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Piecewise Functions  •  Solution 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01168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675120" y="2011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 •  REAL-LIFE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65960" y="16459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Two-Bracket Income Tax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simplified income tax system uses two brackets: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1508760"/>
          </a:xfrm>
          <a:prstGeom prst="rect">
            <a:avLst/>
          </a:prstGeom>
          <a:solidFill>
            <a:srgbClr val="F4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75564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T owed on income I (in dollars):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10312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T(I) = 0.10 · I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T(I) = 2,000 + 0.20 · (I − 20,000)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0" y="210312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 0 ≤ I ≤ 20,000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 I &gt; 20,000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429000"/>
            <a:ext cx="2606040" cy="1280160"/>
          </a:xfrm>
          <a:prstGeom prst="rect">
            <a:avLst/>
          </a:prstGeom>
          <a:solidFill>
            <a:srgbClr val="2A3A7B"/>
          </a:solidFill>
          <a:ln w="12700">
            <a:solidFill>
              <a:srgbClr val="2A3A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4930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(a)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3822192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tax does someone earning $15,000 pay?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337560" y="3429000"/>
            <a:ext cx="2606040" cy="1280160"/>
          </a:xfrm>
          <a:prstGeom prst="rect">
            <a:avLst/>
          </a:prstGeom>
          <a:solidFill>
            <a:srgbClr val="2A3A7B"/>
          </a:solidFill>
          <a:ln w="12700">
            <a:solidFill>
              <a:srgbClr val="2A3A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34930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(b)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74720" y="3822192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tax does someone earning $35,000 pay?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3429000"/>
            <a:ext cx="2606040" cy="1280160"/>
          </a:xfrm>
          <a:prstGeom prst="rect">
            <a:avLst/>
          </a:prstGeom>
          <a:solidFill>
            <a:srgbClr val="2A3A7B"/>
          </a:solidFill>
          <a:ln w="12700">
            <a:solidFill>
              <a:srgbClr val="2A3A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34930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(c)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55080" y="3822192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income produces a tax bill of exactly $5,000?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Piecewise Functions  •  Problem 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01168"/>
            <a:ext cx="1691640" cy="457200"/>
          </a:xfrm>
          <a:prstGeom prst="roundRect">
            <a:avLst>
              <a:gd name="adj" fmla="val 16000"/>
            </a:avLst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240280" y="16459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Two-Bracket Income Tax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507492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 I = $15,000  ≤  $20,000  →  first piece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T = 0.10 × 15,000 = $1,500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 I = $35,000  &gt;  $20,000  →  second piece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T = 2,000 + 0.20 × (35,000 − 20,000)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T = 2,000 + 0.20 × 15,000 = 2,000 + 3,000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T = $5,000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 Tax of $5,000 &gt; $2,000 (cutoff tax) → use second piece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5,000 = 2,000 + 0.20(I − 20,000)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3,000 = 0.20(I − 20,000)   ⇒   I − 20,000 = 15,000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I = $35,000</a:t>
            </a:r>
            <a:endParaRPr lang="en-US" sz="1200" dirty="0"/>
          </a:p>
        </p:txBody>
      </p:sp>
      <p:pic>
        <p:nvPicPr>
          <p:cNvPr id="7" name="Image 0" descr="/home/claude/piecewise/graph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051560"/>
            <a:ext cx="3474720" cy="24688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577840" y="3703320"/>
            <a:ext cx="3474720" cy="960120"/>
          </a:xfrm>
          <a:prstGeom prst="rect">
            <a:avLst/>
          </a:prstGeom>
          <a:solidFill>
            <a:srgbClr val="F4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15000" y="3767328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bends at I = $20,000 — only the slope changes; the function stays continuous.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Piecewise Functions  •  Solution 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01168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675120" y="2011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 •  REAL-LIFE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65960" y="16459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Parking Garage Pricing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parking garage in the city centre charges: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51206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 for the first hour (or any part of it)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additional $2 for each extra hour started, for the next 3 hours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4 hours total, a daily maximum of $9 applies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852160" y="1691640"/>
            <a:ext cx="2880360" cy="2880360"/>
          </a:xfrm>
          <a:prstGeom prst="rect">
            <a:avLst/>
          </a:prstGeom>
          <a:solidFill>
            <a:srgbClr val="2A3A7B"/>
          </a:solidFill>
          <a:ln w="12700">
            <a:solidFill>
              <a:srgbClr val="2A3A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0" y="182880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TASK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35040" y="2240280"/>
            <a:ext cx="260604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 Write the piecewise function P(t) for parking t hours.</a:t>
            </a:r>
            <a:endParaRPr lang="en-US" sz="1350" dirty="0"/>
          </a:p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 Find P(0.5),  P(2.5),  P(7).</a:t>
            </a:r>
            <a:endParaRPr lang="en-US" sz="1350" dirty="0"/>
          </a:p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 Sketch the graph for 0 &lt; t ≤ 8 hours.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402336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 </a:t>
            </a:r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“For each extra hour started” means we round up — this is a step function.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Piecewise Functions  •  Problem 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01168"/>
            <a:ext cx="1691640" cy="457200"/>
          </a:xfrm>
          <a:prstGeom prst="roundRect">
            <a:avLst>
              <a:gd name="adj" fmla="val 16000"/>
            </a:avLst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240280" y="16459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Parking Garage Pricing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 Piecewise definition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074920" cy="1691640"/>
          </a:xfrm>
          <a:prstGeom prst="rect">
            <a:avLst/>
          </a:prstGeom>
          <a:solidFill>
            <a:srgbClr val="F4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6304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P(t) = 3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P(t) = 5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P(t) = 7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P(t) = 9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P(t) = 9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86000" y="146304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 0 &lt; t ≤ 1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 1 &lt; t ≤ 2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 2 &lt; t ≤ 3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 3 &lt; t ≤ 4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 4 &lt; t ≤ 24  (daily max)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 Evaluations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52044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P(0.5) = $3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half an hour falls in the first interval (0, 1]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P(2.5) = $7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2.5 lies in (2, 3], so P = 7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P(7) = $9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7 &gt; 4, daily-max rate kicks in</a:t>
            </a:r>
            <a:endParaRPr lang="en-US" sz="1300" dirty="0"/>
          </a:p>
        </p:txBody>
      </p:sp>
      <p:pic>
        <p:nvPicPr>
          <p:cNvPr id="12" name="Image 0" descr="/home/claude/piecewise/graph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051560"/>
            <a:ext cx="3474720" cy="246888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577840" y="3703320"/>
            <a:ext cx="3474720" cy="960120"/>
          </a:xfrm>
          <a:prstGeom prst="rect">
            <a:avLst/>
          </a:prstGeom>
          <a:solidFill>
            <a:srgbClr val="F4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15000" y="3767328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 Step graph  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○ = excluded endpoint, filled ● = included.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Piecewise Functions  •  Solution 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01168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675120" y="2011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HARD  •  THEORY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65960" y="16459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Continuity Conditions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the piecewise function: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8229600" cy="1783080"/>
          </a:xfrm>
          <a:prstGeom prst="rect">
            <a:avLst/>
          </a:prstGeom>
          <a:solidFill>
            <a:srgbClr val="F4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4884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f(x) =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965960" y="1783080"/>
            <a:ext cx="0" cy="1417320"/>
          </a:xfrm>
          <a:prstGeom prst="line">
            <a:avLst/>
          </a:prstGeom>
          <a:noFill/>
          <a:ln w="38100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65960" y="1783080"/>
            <a:ext cx="164592" cy="0"/>
          </a:xfrm>
          <a:prstGeom prst="line">
            <a:avLst/>
          </a:prstGeom>
          <a:noFill/>
          <a:ln w="38100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65960" y="3200400"/>
            <a:ext cx="164592" cy="0"/>
          </a:xfrm>
          <a:prstGeom prst="line">
            <a:avLst/>
          </a:prstGeom>
          <a:noFill/>
          <a:ln w="381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1691640"/>
            <a:ext cx="18288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x² + 1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x + b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2x + 4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297680" y="1691640"/>
            <a:ext cx="41148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 x &lt; 1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 1 ≤ x ≤ 3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 x &gt; 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solidFill>
            <a:srgbClr val="2A3A7B"/>
          </a:solidFill>
          <a:ln w="12700">
            <a:solidFill>
              <a:srgbClr val="2A3A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values of  </a:t>
            </a:r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and  </a:t>
            </a:r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that make  </a:t>
            </a:r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continuous everywhere on the real line.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Piecewise Functions  •  Problem 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01168"/>
            <a:ext cx="1691640" cy="457200"/>
          </a:xfrm>
          <a:prstGeom prst="roundRect">
            <a:avLst>
              <a:gd name="adj" fmla="val 16000"/>
            </a:avLst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240280" y="16459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Continuity Conditions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Continuity at the joining points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5120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 x = 1 ,  left and right values must agree: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(1)² + 1  =  a(1) + b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a + b = 2          …(1)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5120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 x = 3 :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a(3) + b  =  2(3) + 4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3a + b = 10        …(2)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(1) from (2):     (3a + b) − (a + b) = 10 − 2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2a = 8     ⇒     a = 4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 back into (1):     b = 2 − 4 = −2</a:t>
            </a:r>
            <a:endParaRPr lang="en-US" sz="1300" dirty="0"/>
          </a:p>
        </p:txBody>
      </p:sp>
      <p:pic>
        <p:nvPicPr>
          <p:cNvPr id="10" name="Image 0" descr="/home/claude/piecewise/graph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051560"/>
            <a:ext cx="3474720" cy="24688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577840" y="3657600"/>
            <a:ext cx="347472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77840" y="3703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577840" y="402336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= 4,   b = −2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Piecewise Functions  •  Solution 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Piecewise Functions — Problems &amp; Solutions</dc:title>
  <dc:subject>PptxGenJS Presentation</dc:subject>
  <dc:creator>Math Class</dc:creator>
  <cp:lastModifiedBy>Math Class</cp:lastModifiedBy>
  <cp:revision>1</cp:revision>
  <dcterms:created xsi:type="dcterms:W3CDTF">2026-04-27T07:23:56Z</dcterms:created>
  <dcterms:modified xsi:type="dcterms:W3CDTF">2026-04-27T07:23:56Z</dcterms:modified>
</cp:coreProperties>
</file>