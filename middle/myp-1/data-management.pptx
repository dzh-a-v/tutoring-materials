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B6E0"/>
              </a:solidFill>
              <a:effectLst/>
            </c:spPr>
          </c:dPt>
          <c:dPt>
            <c:idx val="1"/>
            <c:bubble3D val="0"/>
            <c:spPr>
              <a:solidFill>
                <a:srgbClr val="B8A4DC"/>
              </a:solidFill>
              <a:effectLst/>
            </c:spPr>
          </c:dPt>
          <c:dPt>
            <c:idx val="2"/>
            <c:bubble3D val="0"/>
            <c:spPr>
              <a:solidFill>
                <a:srgbClr val="E89BB0"/>
              </a:solidFill>
              <a:effectLst/>
            </c:spPr>
          </c:dPt>
          <c:dPt>
            <c:idx val="3"/>
            <c:bubble3D val="0"/>
            <c:spPr>
              <a:solidFill>
                <a:srgbClr val="8FCFA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solidFill>
          <a:srgbClr val="C9DDF4"/>
        </a:solidFill>
        <a:ln>
          <a:noFill/>
        </a:ln>
        <a:effectLst/>
      </c:spPr>
    </c:plotArea>
    <c:plotVisOnly val="1"/>
    <c:dispBlanksAs val="span"/>
  </c:chart>
  <c:spPr>
    <a:solidFill>
      <a:srgbClr val="C9DD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3A55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3B3A55"/>
                </a:solidFill>
                <a:latin typeface="Calibri"/>
              </a:rPr>
              <a:t>Movie preferences in the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E89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3A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Comedy</c:v>
                  </c:pt>
                  <c:pt idx="1">
                    <c:v>Sci-fi</c:v>
                  </c:pt>
                  <c:pt idx="2">
                    <c:v>Action</c:v>
                  </c:pt>
                  <c:pt idx="3">
                    <c:v>Animation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4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B3A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3A55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3B3A55"/>
                </a:solidFill>
                <a:latin typeface="Calibri"/>
              </a:rPr>
              <a:t>Worldwide smartphone sales by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8FCFAB"/>
            </a:solidFill>
            <a:ln w="38100" cap="flat">
              <a:solidFill>
                <a:srgbClr val="8FCF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FCFAB"/>
              </a:solidFill>
              <a:ln w="9525" cap="flat">
                <a:solidFill>
                  <a:srgbClr val="8FCF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120</c:v>
                </c:pt>
                <c:pt idx="1">
                  <c:v>140</c:v>
                </c:pt>
                <c:pt idx="2">
                  <c:v>170</c:v>
                </c:pt>
                <c:pt idx="3">
                  <c:v>300</c:v>
                </c:pt>
                <c:pt idx="4">
                  <c:v>470</c:v>
                </c:pt>
                <c:pt idx="5">
                  <c:v>680</c:v>
                </c:pt>
                <c:pt idx="6">
                  <c:v>970</c:v>
                </c:pt>
                <c:pt idx="7">
                  <c:v>1250</c:v>
                </c:pt>
                <c:pt idx="8">
                  <c:v>1420</c:v>
                </c:pt>
                <c:pt idx="9">
                  <c:v>1495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Calories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CFAB"/>
              </a:solidFill>
              <a:effectLst/>
            </c:spPr>
          </c:dPt>
          <c:dPt>
            <c:idx val="1"/>
            <c:bubble3D val="0"/>
            <c:spPr>
              <a:solidFill>
                <a:srgbClr val="F2A77E"/>
              </a:solidFill>
              <a:effectLst/>
            </c:spPr>
          </c:dPt>
          <c:dPt>
            <c:idx val="2"/>
            <c:bubble3D val="0"/>
            <c:spPr>
              <a:solidFill>
                <a:srgbClr val="E89B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Home (252°)</c:v>
                </c:pt>
                <c:pt idx="1">
                  <c:v>Fast (72°)</c:v>
                </c:pt>
                <c:pt idx="2">
                  <c:v>Junk (36°)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3B3A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3A55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3B3A55"/>
                </a:solidFill>
                <a:latin typeface="Georgia"/>
              </a:rPr>
              <a:t>Hours of TV watched per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F2A7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3A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0–2</c:v>
                  </c:pt>
                  <c:pt idx="1">
                    <c:v>3–5</c:v>
                  </c:pt>
                  <c:pt idx="2">
                    <c:v>6–8</c:v>
                  </c:pt>
                  <c:pt idx="3">
                    <c:v>9–11</c:v>
                  </c:pt>
                  <c:pt idx="4">
                    <c:v>12–14</c:v>
                  </c:pt>
                  <c:pt idx="5">
                    <c:v>15–17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12</c:v>
                </c:pt>
                <c:pt idx="2">
                  <c:v>18</c:v>
                </c:pt>
                <c:pt idx="3">
                  <c:v>9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B3A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A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A85"/>
                    </a:solidFill>
                    <a:latin typeface="Arial"/>
                  </a:rPr>
                  <a:t>Hours per week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2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A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A85"/>
                    </a:solidFill>
                    <a:latin typeface="Arial"/>
                  </a:rPr>
                  <a:t>Number of students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3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Drinks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B6E0"/>
              </a:solidFill>
              <a:effectLst/>
            </c:spPr>
          </c:dPt>
          <c:dPt>
            <c:idx val="1"/>
            <c:bubble3D val="0"/>
            <c:spPr>
              <a:solidFill>
                <a:srgbClr val="F2A77E"/>
              </a:solidFill>
              <a:effectLst/>
            </c:spPr>
          </c:dPt>
          <c:dPt>
            <c:idx val="2"/>
            <c:bubble3D val="0"/>
            <c:spPr>
              <a:solidFill>
                <a:srgbClr val="E89BB0"/>
              </a:solidFill>
              <a:effectLst/>
            </c:spPr>
          </c:dPt>
          <c:dPt>
            <c:idx val="3"/>
            <c:bubble3D val="0"/>
            <c:spPr>
              <a:solidFill>
                <a:srgbClr val="8FCFA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Water (120°)</c:v>
                </c:pt>
                <c:pt idx="1">
                  <c:v>Juice (90°)</c:v>
                </c:pt>
                <c:pt idx="2">
                  <c:v>Tea (60°)</c:v>
                </c:pt>
                <c:pt idx="3">
                  <c:v>Soft drink (90°)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firstSliceAng val="0"/>
      </c:pie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3A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3A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B3A55"/>
                </a:solidFill>
                <a:latin typeface="Arial"/>
              </a:rPr>
              <a:t>Graduation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E89BB0"/>
            </a:solidFill>
            <a:ln w="38100" cap="flat">
              <a:solidFill>
                <a:srgbClr val="E89B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BB0"/>
              </a:solidFill>
              <a:ln w="9525" cap="flat">
                <a:solidFill>
                  <a:srgbClr val="E89B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07-08</c:v>
                  </c:pt>
                  <c:pt idx="1">
                    <c:v>08-09</c:v>
                  </c:pt>
                  <c:pt idx="2">
                    <c:v>09-10</c:v>
                  </c:pt>
                  <c:pt idx="3">
                    <c:v>10-11</c:v>
                  </c:pt>
                  <c:pt idx="4">
                    <c:v>11-12</c:v>
                  </c:pt>
                  <c:pt idx="5">
                    <c:v>12-13</c:v>
                  </c:pt>
                  <c:pt idx="6">
                    <c:v>13-14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</c:v>
                </c:pt>
                <c:pt idx="1">
                  <c:v>78</c:v>
                </c:pt>
                <c:pt idx="2">
                  <c:v>79</c:v>
                </c:pt>
                <c:pt idx="3">
                  <c:v>80</c:v>
                </c:pt>
                <c:pt idx="4">
                  <c:v>81</c:v>
                </c:pt>
                <c:pt idx="5">
                  <c:v>82</c:v>
                </c:pt>
                <c:pt idx="6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3"/>
          <c:min val="75"/>
        </c:scaling>
        <c:delete val="0"/>
        <c:axPos val="l"/>
        <c:majorGridlines>
          <c:spPr>
            <a:ln w="6350" cap="flat">
              <a:solidFill>
                <a:srgbClr val="E8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3A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B3A55"/>
                </a:solidFill>
                <a:latin typeface="Arial"/>
              </a:rPr>
              <a:t>Graduation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8FCFAB"/>
            </a:solidFill>
            <a:ln w="38100" cap="flat">
              <a:solidFill>
                <a:srgbClr val="8FCF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FCFAB"/>
              </a:solidFill>
              <a:ln w="9525" cap="flat">
                <a:solidFill>
                  <a:srgbClr val="8FCF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07-08</c:v>
                  </c:pt>
                  <c:pt idx="1">
                    <c:v>08-09</c:v>
                  </c:pt>
                  <c:pt idx="2">
                    <c:v>09-10</c:v>
                  </c:pt>
                  <c:pt idx="3">
                    <c:v>10-11</c:v>
                  </c:pt>
                  <c:pt idx="4">
                    <c:v>11-12</c:v>
                  </c:pt>
                  <c:pt idx="5">
                    <c:v>12-13</c:v>
                  </c:pt>
                  <c:pt idx="6">
                    <c:v>13-14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</c:v>
                </c:pt>
                <c:pt idx="1">
                  <c:v>78</c:v>
                </c:pt>
                <c:pt idx="2">
                  <c:v>79</c:v>
                </c:pt>
                <c:pt idx="3">
                  <c:v>80</c:v>
                </c:pt>
                <c:pt idx="4">
                  <c:v>81</c:v>
                </c:pt>
                <c:pt idx="5">
                  <c:v>82</c:v>
                </c:pt>
                <c:pt idx="6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640080"/>
            <a:ext cx="365760" cy="36576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4297680"/>
            <a:ext cx="411480" cy="411480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480560"/>
            <a:ext cx="457200" cy="457200"/>
          </a:xfrm>
          <a:prstGeom prst="ellipse">
            <a:avLst/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77440"/>
            <a:ext cx="274320" cy="274320"/>
          </a:xfrm>
          <a:prstGeom prst="ellipse">
            <a:avLst/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2651760"/>
            <a:ext cx="320040" cy="320040"/>
          </a:xfrm>
          <a:prstGeom prst="ellipse">
            <a:avLst/>
          </a:prstGeom>
          <a:solidFill>
            <a:srgbClr val="FFD9C2"/>
          </a:solidFill>
          <a:ln w="12700">
            <a:solidFill>
              <a:srgbClr val="FFD9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E8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Management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 in Communities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931920" y="3337560"/>
            <a:ext cx="1280160" cy="45720"/>
          </a:xfrm>
          <a:prstGeom prst="rect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MYP-1 Mathematics  •  Statistics &amp; Probability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is and how to classify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organise data with frequency tables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560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draw bar graphs, line graphs and pie charts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154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the best graph for the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misleading graphs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you'll meet again and again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you collect.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02152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data — collecting, organising, displaying, interpreting.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72784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organised picture that represents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a value appears.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9272" y="292608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02152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in the data over 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9904" y="292608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D9C2"/>
          </a:solidFill>
          <a:ln w="12700">
            <a:solidFill>
              <a:srgbClr val="FFD9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72784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questions used to collect data.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(numbers) vs Qualitative (words)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49040" y="118872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691640"/>
            <a:ext cx="-2194560" cy="228600"/>
          </a:xfrm>
          <a:prstGeom prst="line">
            <a:avLst/>
          </a:prstGeom>
          <a:noFill/>
          <a:ln w="19050">
            <a:solidFill>
              <a:srgbClr val="6B6A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691640"/>
            <a:ext cx="2194560" cy="228600"/>
          </a:xfrm>
          <a:prstGeom prst="line">
            <a:avLst/>
          </a:prstGeom>
          <a:noFill/>
          <a:ln w="19050">
            <a:solidFill>
              <a:srgbClr val="6B6A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96596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(numbers)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96596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(words)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2468880"/>
            <a:ext cx="-457200" cy="274320"/>
          </a:xfrm>
          <a:prstGeom prst="line">
            <a:avLst/>
          </a:prstGeom>
          <a:noFill/>
          <a:ln w="19050">
            <a:solidFill>
              <a:srgbClr val="6B6A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468880"/>
            <a:ext cx="457200" cy="274320"/>
          </a:xfrm>
          <a:prstGeom prst="line">
            <a:avLst/>
          </a:prstGeom>
          <a:noFill/>
          <a:ln w="19050">
            <a:solidFill>
              <a:srgbClr val="6B6A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468880"/>
            <a:ext cx="-457200" cy="274320"/>
          </a:xfrm>
          <a:prstGeom prst="line">
            <a:avLst/>
          </a:prstGeom>
          <a:noFill/>
          <a:ln w="19050">
            <a:solidFill>
              <a:srgbClr val="6B6A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2468880"/>
            <a:ext cx="457200" cy="274320"/>
          </a:xfrm>
          <a:prstGeom prst="line">
            <a:avLst/>
          </a:prstGeom>
          <a:noFill/>
          <a:ln w="19050">
            <a:solidFill>
              <a:srgbClr val="6B6A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88920"/>
            <a:ext cx="1691640" cy="1691640"/>
          </a:xfrm>
          <a:prstGeom prst="roundRect">
            <a:avLst>
              <a:gd name="adj" fmla="val 6486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Counted: 1, 2, 3, 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number of pets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2788920"/>
            <a:ext cx="1691640" cy="1691640"/>
          </a:xfrm>
          <a:prstGeom prst="roundRect">
            <a:avLst>
              <a:gd name="adj" fmla="val 6486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23160" y="32461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any 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height in cm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788920"/>
            <a:ext cx="1691640" cy="1691640"/>
          </a:xfrm>
          <a:prstGeom prst="roundRect">
            <a:avLst>
              <a:gd name="adj" fmla="val 6486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Categorical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no 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hair colour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2788920"/>
            <a:ext cx="1691640" cy="1691640"/>
          </a:xfrm>
          <a:prstGeom prst="roundRect">
            <a:avLst>
              <a:gd name="adj" fmla="val 6486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32461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with 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low / med / high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ask  'Is the answer a number?'  → Quantitative.  Otherwise → Qualitative.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1 — Classify 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Categorical, ordinal, discrete or continuous?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943600" cy="411480"/>
          </a:xfrm>
          <a:prstGeom prst="roundRect">
            <a:avLst>
              <a:gd name="adj" fmla="val 26667"/>
            </a:avLst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/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280160"/>
            <a:ext cx="2194560" cy="411480"/>
          </a:xfrm>
          <a:prstGeom prst="roundRect">
            <a:avLst>
              <a:gd name="adj" fmla="val 26667"/>
            </a:avLst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9F4"/>
          </a:solidFill>
          <a:ln w="12700">
            <a:solidFill>
              <a:srgbClr val="FFF9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57984"/>
            <a:ext cx="5943600" cy="9144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siblings you have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83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9F4"/>
          </a:solidFill>
          <a:ln w="12700">
            <a:solidFill>
              <a:srgbClr val="FFF9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15184"/>
            <a:ext cx="5943600" cy="9144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402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favourite movie genre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24028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40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Categorical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9F4"/>
          </a:solidFill>
          <a:ln w="12700">
            <a:solidFill>
              <a:srgbClr val="FFF9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72384"/>
            <a:ext cx="5943600" cy="9144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97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shirt size (S / M / L)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269748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697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9F4"/>
          </a:solidFill>
          <a:ln w="12700">
            <a:solidFill>
              <a:srgbClr val="FFF9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29584"/>
            <a:ext cx="5943600" cy="9144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54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to run 100 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315468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9F4"/>
          </a:solidFill>
          <a:ln w="12700">
            <a:solidFill>
              <a:srgbClr val="FFF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86784"/>
            <a:ext cx="5943600" cy="9144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118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of the week you were born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361188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6118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Categorical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9F4"/>
          </a:solidFill>
          <a:ln w="12700">
            <a:solidFill>
              <a:srgbClr val="FFF9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443984"/>
            <a:ext cx="5943600" cy="9144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0690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rating (1–5 stars)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92240" y="406908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069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often each value appears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table with three columns.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or category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marks  (||||)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 (the total)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the tallies in each row to get the frequency.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6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hours of sleep last night (Year 5)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91640"/>
          <a:ext cx="4023360" cy="283464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1188720"/>
              </a:tblGrid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F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F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FAB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||||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|||| ||||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main types of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tells a different kind of 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77440"/>
            <a:ext cx="365760" cy="640080"/>
          </a:xfrm>
          <a:prstGeom prst="rect">
            <a:avLst/>
          </a:prstGeom>
          <a:solidFill>
            <a:srgbClr val="E89BB0"/>
          </a:solidFill>
          <a:ln w="12700">
            <a:solidFill>
              <a:srgbClr val="E89B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920240"/>
            <a:ext cx="365760" cy="1097280"/>
          </a:xfrm>
          <a:prstGeom prst="rect">
            <a:avLst/>
          </a:prstGeom>
          <a:solidFill>
            <a:srgbClr val="E89BB0"/>
          </a:solidFill>
          <a:ln w="12700">
            <a:solidFill>
              <a:srgbClr val="E89B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194560"/>
            <a:ext cx="365760" cy="822960"/>
          </a:xfrm>
          <a:prstGeom prst="rect">
            <a:avLst/>
          </a:prstGeom>
          <a:solidFill>
            <a:srgbClr val="E89BB0"/>
          </a:solidFill>
          <a:ln w="12700">
            <a:solidFill>
              <a:srgbClr val="E89B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783080"/>
            <a:ext cx="365760" cy="1234440"/>
          </a:xfrm>
          <a:prstGeom prst="rect">
            <a:avLst/>
          </a:prstGeom>
          <a:solidFill>
            <a:srgbClr val="E89BB0"/>
          </a:solidFill>
          <a:ln w="12700">
            <a:solidFill>
              <a:srgbClr val="E89B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17520"/>
            <a:ext cx="2148840" cy="0"/>
          </a:xfrm>
          <a:prstGeom prst="line">
            <a:avLst/>
          </a:prstGeom>
          <a:noFill/>
          <a:ln w="12700">
            <a:solidFill>
              <a:srgbClr val="3B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 graph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64992" y="12801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3017520"/>
            <a:ext cx="2148840" cy="0"/>
          </a:xfrm>
          <a:prstGeom prst="line">
            <a:avLst/>
          </a:prstGeom>
          <a:noFill/>
          <a:ln w="12700">
            <a:solidFill>
              <a:srgbClr val="3B3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1554480"/>
            <a:ext cx="0" cy="1463040"/>
          </a:xfrm>
          <a:prstGeom prst="line">
            <a:avLst/>
          </a:prstGeom>
          <a:noFill/>
          <a:ln w="12700">
            <a:solidFill>
              <a:srgbClr val="3B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2743200"/>
            <a:ext cx="365760" cy="-274320"/>
          </a:xfrm>
          <a:prstGeom prst="line">
            <a:avLst/>
          </a:prstGeom>
          <a:noFill/>
          <a:ln w="31750">
            <a:solidFill>
              <a:srgbClr val="8FCF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96512" y="2468880"/>
            <a:ext cx="365760" cy="137160"/>
          </a:xfrm>
          <a:prstGeom prst="line">
            <a:avLst/>
          </a:prstGeom>
          <a:noFill/>
          <a:ln w="31750">
            <a:solidFill>
              <a:srgbClr val="8FCF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2606040"/>
            <a:ext cx="365760" cy="-502920"/>
          </a:xfrm>
          <a:prstGeom prst="line">
            <a:avLst/>
          </a:prstGeom>
          <a:noFill/>
          <a:ln w="31750">
            <a:solidFill>
              <a:srgbClr val="8FCF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103120"/>
            <a:ext cx="365760" cy="-182880"/>
          </a:xfrm>
          <a:prstGeom prst="line">
            <a:avLst/>
          </a:prstGeom>
          <a:noFill/>
          <a:ln w="31750">
            <a:solidFill>
              <a:srgbClr val="8FCF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3792" y="1920240"/>
            <a:ext cx="365760" cy="-182880"/>
          </a:xfrm>
          <a:prstGeom prst="line">
            <a:avLst/>
          </a:prstGeom>
          <a:noFill/>
          <a:ln w="31750">
            <a:solidFill>
              <a:srgbClr val="8FCF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2688336"/>
            <a:ext cx="109728" cy="109728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2414016"/>
            <a:ext cx="109728" cy="109728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07408" y="2551176"/>
            <a:ext cx="109728" cy="109728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2048256"/>
            <a:ext cx="109728" cy="109728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8928" y="1865376"/>
            <a:ext cx="109728" cy="109728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04688" y="1682496"/>
            <a:ext cx="109728" cy="109728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graph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547872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47872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change over time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27064" y="12801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graphicFrame>
        <p:nvGraphicFramePr>
          <p:cNvPr id="31" name="Chart 0" descr=""/>
          <p:cNvGraphicFramePr/>
          <p:nvPr/>
        </p:nvGraphicFramePr>
        <p:xfrm>
          <a:off x="6684264" y="1508760"/>
          <a:ext cx="17830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6409944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 chart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09944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409944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parts of a whole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draw a bar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frequency table from your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365760" cy="36576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two axes — a horizontal one and a vertical 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85416"/>
            <a:ext cx="365760" cy="36576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85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horizontal axis, write each category. Leave equal gaps between them.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60904"/>
            <a:ext cx="365760" cy="36576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660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vertical axis, choose a scale that fits the largest frequency.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365760" cy="36576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36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each category, draw a bar whose height matches its frequency.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bars the same width, with equal gaps between them.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365760" cy="36576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title and labels for both axes.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B6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favourite movie genre</a:t>
            </a:r>
            <a:endParaRPr lang="en-US" sz="12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212080" y="150876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draw a line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table with two columns: time (or x-value) and the measurement.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two axes. Time goes on the horizontal axis.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even scale on each axis to fit your largest values.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dot for each pair of values from the table.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dots in order with straight line segments.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title and clear labels for both axes.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B6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smartphone sales (millions)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212080" y="150876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draw a pie chart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 (with the angle calculation)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9184" cy="329184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categories and their counts in a table.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29184" cy="329184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total of all counts.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329184" cy="329184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category, calculate its fraction:  count ÷ total.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4688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fraction by 360°  →  this is the angle of the slice.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29184" cy="329184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angles add up to 360°.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29184" cy="329184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2918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circle. Mark the centre. Draw a line from the centre upwards.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329184" cy="329184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703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protractor to draw each slice, starting from your last line.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329184" cy="329184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114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each slice differently. Add a title, labels and a key.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6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3108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77240"/>
                <a:gridCol w="77724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6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Chart 0" descr=""/>
          <p:cNvGraphicFramePr/>
          <p:nvPr/>
        </p:nvGraphicFramePr>
        <p:xfrm>
          <a:off x="5486400" y="3246120"/>
          <a:ext cx="32918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7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pie chart formula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multiply by 360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1280160"/>
          </a:xfrm>
          <a:prstGeom prst="roundRect">
            <a:avLst>
              <a:gd name="adj" fmla="val 8571"/>
            </a:avLst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angle of slice  =  </a:t>
            </a:r>
            <a:pPr algn="ctr" indent="0" marL="0">
              <a:buNone/>
            </a:pPr>
            <a:r>
              <a:rPr lang="en-US" sz="20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count</a:t>
            </a:r>
            <a:pPr algn="ctr" indent="0" marL="0">
              <a:buNone/>
            </a:pPr>
            <a:r>
              <a:rPr lang="en-US" sz="2000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÷  </a:t>
            </a:r>
            <a:pPr algn="ctr" indent="0" marL="0">
              <a:buNone/>
            </a:pPr>
            <a:r>
              <a:rPr lang="en-US" sz="20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pPr algn="ctr" indent="0" marL="0">
              <a:buNone/>
            </a:pPr>
            <a:r>
              <a:rPr lang="en-US" sz="2000" b="1" dirty="0">
                <a:solidFill>
                  <a:srgbClr val="E8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×  360°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circle is 360°. The whole circle stands for the full data set, so each category gets its share — its fraction of 360°.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97180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34290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category is 25% of the data: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 =  0.25  ×  360°  =  90°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2 — Build a bar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TV watched (data from a class)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per 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7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77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2344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D9C2"/>
          </a:solidFill>
          <a:ln w="12700">
            <a:solidFill>
              <a:srgbClr val="FFD9C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tasks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54880" y="17830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scale on the vertical axis. (What number will the top show?)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axes and label them.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bar for each interval. Make all bars the same width.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clear title.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interval is most common? Which is least common?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2 —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finished bar graph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234440"/>
            <a:ext cx="2103120" cy="3474720"/>
          </a:xfrm>
          <a:prstGeom prst="roundRect">
            <a:avLst>
              <a:gd name="adj" fmla="val 5217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122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12280" y="1783080"/>
            <a:ext cx="1828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hours (18 students).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common: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15–17 hours (2 students).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a peak in the middle and tails on both sides.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3 — Pie chart angles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angle for each slice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of 24 students chose their favourite drink. Calculate the angle each slice should have.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097280"/>
                <a:gridCol w="128016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360°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4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(1/3) × 360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A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(1/4) × 360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A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(1/6) × 360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A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drink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(1/4) × 360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A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035040" y="1417320"/>
          <a:ext cx="3017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data to the graph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(groups, no order)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graph or pie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compare separate categories.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(groups in order)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is shown along the axis.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(countable numbers)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8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value is a separate bar.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over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graph (time series)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A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trend / change over time.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 of one whole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slice is a share of 100%.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100" i="1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line graph only when the horizontal axis is continuous (usually time). Joining points doesn't make sense for separate categories like favourite genres.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Misleading graphs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— very different stories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Misleading: scale starts at 75%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CF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Fair: scale starts at 0%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4630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spot a misleading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to ask every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vertical axis start at 0? If not, small changes can look huge.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gaps on each axis equal in size?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both axes clearly labelled with units?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type of graph match the data? (e.g. no line graph for categories)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 — title, key, data source, time period?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on your 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99032"/>
            <a:ext cx="594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990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each: shoe size, eye colour, height, ranking 1–5.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90872" y="123444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3752" y="1399032"/>
            <a:ext cx="594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3990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8288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students play sport. 12 like football, 5 basketball, 3 tennis. Find the angle of each pie slice.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99232"/>
            <a:ext cx="594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99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temperatures over a week. Which graph should you draw and why?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834640"/>
            <a:ext cx="4069080" cy="1417320"/>
          </a:xfrm>
          <a:prstGeom prst="roundRect">
            <a:avLst>
              <a:gd name="adj" fmla="val 7742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73752" y="2999232"/>
            <a:ext cx="594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999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4290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shows sales 'doubling' but the y-axis starts at 95. What is the problem?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321040" cy="411480"/>
          </a:xfrm>
          <a:prstGeom prst="roundRect">
            <a:avLst>
              <a:gd name="adj" fmla="val 26667"/>
            </a:avLst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write the data type first — then the graph almost picks itself.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practice — answers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 size: discrete · Eye colour: categorical · Height: continuous · Ranking 1–5: ordinal.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0116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Football: 12/20 × 360° = 216° · Basketball: 5/20 × 360° = 90° · Tennis: 3/20 × 360° = 54°. Total = 360°. 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8803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graph (time series). Temperature is continuous and time is on the horizontal axis, so a line shows the trend through the week.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rgbClr val="8FCFAB"/>
          </a:solidFill>
          <a:ln w="12700">
            <a:solidFill>
              <a:srgbClr val="8FCF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axis does not start at 0, so a tiny change looks like a huge jump. Redraw it with the axis starting at 0 to see the real picture.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has types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(discrete / continuous) and qualitative (categorical / ordinal).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23444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tell stories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47872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graphs, line graphs and pie charts each fit different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123444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carefully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9944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scale, axes and graph type make data fair and clear.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8183880" cy="1463040"/>
          </a:xfrm>
          <a:prstGeom prst="roundRect">
            <a:avLst>
              <a:gd name="adj" fmla="val 7500"/>
            </a:avLst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B6A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formula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angle of pie slice  =  </a:t>
            </a:r>
            <a:pPr algn="ctr" indent="0" marL="0">
              <a:buNone/>
            </a:pPr>
            <a:r>
              <a:rPr lang="en-US" sz="20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</a:t>
            </a:r>
            <a:pPr algn="ctr" indent="0" marL="0">
              <a:buNone/>
            </a:pPr>
            <a:r>
              <a:rPr lang="en-US" sz="2000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÷  </a:t>
            </a:r>
            <a:pPr algn="ctr" indent="0" marL="0">
              <a:buNone/>
            </a:pPr>
            <a:r>
              <a:rPr lang="en-US" sz="20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pPr algn="ctr" indent="0" marL="0">
              <a:buNone/>
            </a:pPr>
            <a:r>
              <a:rPr lang="en-US" sz="2000" b="1" dirty="0">
                <a:solidFill>
                  <a:srgbClr val="E89B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×  360°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502920" cy="502920"/>
          </a:xfrm>
          <a:prstGeom prst="ellipse">
            <a:avLst/>
          </a:prstGeom>
          <a:solidFill>
            <a:srgbClr val="F8C8D6"/>
          </a:solidFill>
          <a:ln w="12700">
            <a:solidFill>
              <a:srgbClr val="F8C8D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0" y="731520"/>
            <a:ext cx="411480" cy="411480"/>
          </a:xfrm>
          <a:prstGeom prst="ellipse">
            <a:avLst/>
          </a:prstGeom>
          <a:solidFill>
            <a:srgbClr val="C8EAD6"/>
          </a:solidFill>
          <a:ln w="12700">
            <a:solidFill>
              <a:srgbClr val="C8EAD6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C9DDF4"/>
          </a:solidFill>
          <a:ln w="12700">
            <a:solidFill>
              <a:srgbClr val="C9DD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0" y="4206240"/>
            <a:ext cx="548640" cy="548640"/>
          </a:xfrm>
          <a:prstGeom prst="ellipse">
            <a:avLst/>
          </a:prstGeom>
          <a:solidFill>
            <a:srgbClr val="FCEAB8"/>
          </a:solidFill>
          <a:ln w="12700">
            <a:solidFill>
              <a:srgbClr val="FCEAB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297680" y="411480"/>
            <a:ext cx="274320" cy="274320"/>
          </a:xfrm>
          <a:prstGeom prst="ellipse">
            <a:avLst/>
          </a:prstGeom>
          <a:solidFill>
            <a:srgbClr val="DDD0F0"/>
          </a:solidFill>
          <a:ln w="12700">
            <a:solidFill>
              <a:srgbClr val="DDD0F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80560" y="4572000"/>
            <a:ext cx="292608" cy="292608"/>
          </a:xfrm>
          <a:prstGeom prst="ellipse">
            <a:avLst/>
          </a:prstGeom>
          <a:solidFill>
            <a:srgbClr val="FFD9C2"/>
          </a:solidFill>
          <a:ln w="12700">
            <a:solidFill>
              <a:srgbClr val="FFD9C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3A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 done!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3931920" y="2606040"/>
            <a:ext cx="1280160" cy="45720"/>
          </a:xfrm>
          <a:prstGeom prst="rect">
            <a:avLst/>
          </a:prstGeom>
          <a:solidFill>
            <a:srgbClr val="E89BB0"/>
          </a:solidFill>
          <a:ln w="12700">
            <a:solidFill>
              <a:srgbClr val="E89BB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collect, organise, draw and read graphs.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4892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github.com://dzh-a-v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Management — MYP-1</dc:title>
  <dc:subject>PptxGenJS Presentation</dc:subject>
  <dc:creator>MYP-1 Math</dc:creator>
  <cp:lastModifiedBy>MYP-1 Math</cp:lastModifiedBy>
  <cp:revision>1</cp:revision>
  <dcterms:created xsi:type="dcterms:W3CDTF">2026-04-29T09:07:47Z</dcterms:created>
  <dcterms:modified xsi:type="dcterms:W3CDTF">2026-04-29T09:07:47Z</dcterms:modified>
</cp:coreProperties>
</file>